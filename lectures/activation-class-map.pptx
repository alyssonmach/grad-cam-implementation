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F618-B9D8-4668-9036-C1E13D6D7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0E4FE-3876-4850-BCCD-EF3EC0A3C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A753F-34BB-4BAE-A522-B3533557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Tuesday, March 23,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B0C8-D942-4EE3-B7B6-76567B7F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32F38-3B20-4FED-8932-31D15827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E1F8-06C2-431A-922F-5ECD5B1E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5D9B6-6D14-460F-8DFD-3490220C6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8084D-2C03-40E3-B544-2367A3C2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4C8E3-528B-40A5-B890-2A40BADD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D934-E6FB-47D2-8CA0-AFB9F25C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4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45C2-3986-47E2-A68E-260738DC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4A6E4-6AD2-4627-BC92-2E1AEFFBF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D795E-7669-49F1-8C50-CC982235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02FC-AA6B-47A4-B24E-76654301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93865-C4A7-4A7C-88AC-B3C59303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8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3C5E-E903-4D04-B4FD-554EE0A5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9092-611E-4BE9-9F37-B1E5D7AB6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62F2D-5ED8-4339-B7FE-DB81636C7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DC763-89C6-43DA-BF98-BE2DC8B3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2088B-A47A-46AA-A192-2D95AE8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CD13E-EEA7-4669-8834-65552B56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0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F7D5-661B-4C1D-BB00-84BEB413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3B01E-5FB3-48B9-B645-22FB9DA86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906E3-B283-476E-A908-77B680E0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8AB8C-C5F4-4AE5-88DC-00E4F3A4E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FB79B-E702-4C77-9DA6-4779C3ED1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DEF06-9803-494F-916E-16656D7D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B553A-255A-4489-AAAF-ECF93514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66D54-B5C0-4B49-8F3C-41B94F0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0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2737-CDF5-4693-B477-E711DBF6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DE332-F002-49FF-BB2D-4D23E666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2B5D0-7315-4A4B-A86B-E502B67C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0CDF4-968D-4CC5-AE8A-42B59619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6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71BA6-5A48-4E2B-A434-9BFE4D30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36300-D5CF-4EE1-8651-7F23504F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0950D-FD97-41CF-8BD0-77E70CFB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5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919A-49F5-4326-9965-8A272CF10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89B1-F995-4DD0-AA21-637B570D1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1C094-965B-4288-8E01-146990428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71477-E836-49E2-9BF9-D8FDBB9D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2CE84-07C3-4749-9C43-35A71F09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121F9-CEF6-457F-919A-7308DA39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23A7-861D-41E5-8A7C-1A5C4CBC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94361-82B0-422F-94E7-D1A01D459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C85A5-8B7C-458F-BFE4-A8E3B02A8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56BE2-153A-46DE-BF4D-292CA1AA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129F1-B240-4886-A34C-BB238517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7F2C9-D3D7-40C2-A391-464BB3CE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9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6787-74B5-49D3-BCAF-A929D5EB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36B8A-4476-4788-8516-16E092552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CF80-24E6-4644-9486-561BDB73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46F95-A901-4EF7-8039-DE2A0DA4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A7F1-FFC7-4470-A87D-1FEA2225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7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42222-E9BB-4F88-8CEF-A856D38F0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A881E-0703-4B41-821C-36C9A6DEE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1DFC4-ACC7-432B-96DC-672AFCD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Tuesday, March 23,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AA492-BF48-4A9B-83A9-B269F13F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1A39-09A4-4824-B15F-17E73B9C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7C3D8-8D92-4DFC-8EFD-5EA422CE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3AB8-F1BB-442E-9B2C-15F1C3FDD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A448-2239-4385-B32C-5C4601149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Tuesday, March 23,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D27F6-5FDA-483C-95FA-9832F2BE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9D7C8-7E22-4CA0-99C9-8CCE38570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1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ras-team/keras-io/blob/master/examples/vision/grad_cam.py" TargetMode="External"/><Relationship Id="rId2" Type="http://schemas.openxmlformats.org/officeDocument/2006/relationships/hyperlink" Target="https://github.com/Alyssonmach/grad-cam-implement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3706-EF25-47BD-9072-4F6871CF2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6373812" cy="984885"/>
          </a:xfrm>
        </p:spPr>
        <p:txBody>
          <a:bodyPr wrap="square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3400"/>
              <a:t>Deep Learning:</a:t>
            </a:r>
            <a:br>
              <a:rPr lang="pt-BR" sz="3400"/>
            </a:br>
            <a:r>
              <a:rPr lang="pt-BR" sz="3400"/>
              <a:t>Class Activation Maps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20EB1-50A7-4F40-8B76-047DFB956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549275"/>
            <a:ext cx="4498976" cy="984885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500" dirty="0">
                <a:solidFill>
                  <a:schemeClr val="tx1">
                    <a:alpha val="60000"/>
                  </a:schemeClr>
                </a:solidFill>
              </a:rPr>
              <a:t>A technique for making Convolutional Neural Network (CNN)-based models more transparent by visualizing the regions of input that are “important” for predictions from these models — or visual explanations</a:t>
            </a:r>
            <a:endParaRPr lang="pt-BR" sz="15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6E6AB-9228-48A3-BE6C-753BBB44B5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01" b="45207"/>
          <a:stretch/>
        </p:blipFill>
        <p:spPr>
          <a:xfrm>
            <a:off x="20" y="2083435"/>
            <a:ext cx="12191980" cy="4774564"/>
          </a:xfrm>
          <a:custGeom>
            <a:avLst/>
            <a:gdLst/>
            <a:ahLst/>
            <a:cxnLst/>
            <a:rect l="l" t="t" r="r" b="b"/>
            <a:pathLst>
              <a:path w="12192000" h="4774564">
                <a:moveTo>
                  <a:pt x="0" y="0"/>
                </a:moveTo>
                <a:lnTo>
                  <a:pt x="12192000" y="0"/>
                </a:lnTo>
                <a:lnTo>
                  <a:pt x="12192000" y="4774564"/>
                </a:lnTo>
                <a:lnTo>
                  <a:pt x="0" y="47745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7479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D9D3-83C6-42D3-A262-C3375FB2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 Activation Maps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D8B569C-14DD-423A-B2F5-A82ECB5DA9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07" y="1881275"/>
            <a:ext cx="10048185" cy="349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37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62B0-2DF4-4C7E-9717-B72E9178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 Activation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C9C1-C17E-46AD-ABFB-34868E07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Only need to do classification!</a:t>
            </a:r>
          </a:p>
          <a:p>
            <a:r>
              <a:rPr lang="pt-BR" dirty="0"/>
              <a:t>Take any pre-trained CNN, e.g. ResNet.</a:t>
            </a:r>
          </a:p>
          <a:p>
            <a:r>
              <a:rPr lang="pt-BR" dirty="0"/>
              <a:t>Image shrinks, but # features increase .</a:t>
            </a:r>
          </a:p>
          <a:p>
            <a:r>
              <a:rPr lang="pt-BR" dirty="0"/>
              <a:t>RELU:  all features are positive or zero.</a:t>
            </a:r>
          </a:p>
        </p:txBody>
      </p:sp>
      <p:pic>
        <p:nvPicPr>
          <p:cNvPr id="3074" name="Picture 2" descr="ReLU activation function. | Download Scientific Diagram">
            <a:extLst>
              <a:ext uri="{FF2B5EF4-FFF2-40B4-BE49-F238E27FC236}">
                <a16:creationId xmlns:a16="http://schemas.microsoft.com/office/drawing/2014/main" id="{50FB1317-ED32-42B2-9E36-99925117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414" y="4108189"/>
            <a:ext cx="4233171" cy="238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57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FCDB-CFA0-4536-AA5E-BCEB3D88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 Activation Maps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C2F879-3EAA-4543-AD5C-E7C9FE2E0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Intuitively, you can think of a feature going into the Logistic Regression as a number denoting whether or not some “thing” appears in the image.</a:t>
            </a:r>
          </a:p>
          <a:p>
            <a:pPr lvl="1"/>
            <a:r>
              <a:rPr lang="pt-BR" dirty="0"/>
              <a:t>E.g. One feature for nose, one for eyes, one for lips, hair, ears, etc.</a:t>
            </a:r>
          </a:p>
          <a:p>
            <a:pPr lvl="1"/>
            <a:r>
              <a:rPr lang="pt-BR" dirty="0"/>
              <a:t>Positive number if “thing” was found, 0 otherwise.</a:t>
            </a:r>
          </a:p>
          <a:p>
            <a:pPr lvl="1"/>
            <a:r>
              <a:rPr lang="pt-BR" dirty="0"/>
              <a:t>E.g. The feature for “wheel” would be 0.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0BBB3370-2965-4CE8-B985-1F45DA2F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19588"/>
            <a:ext cx="3905250" cy="1857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D225BB-799E-4371-8A84-C28E60A1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949" y="4319588"/>
            <a:ext cx="3654051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4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B1E8-4712-454F-A82C-5F48A650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1D71A-05FC-4574-BE20-87DFCFAE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If the picture is of a car, then the feature for “wheel” would be &gt; 0, if a wheel was found.</a:t>
            </a:r>
          </a:p>
          <a:p>
            <a:r>
              <a:rPr lang="pt-BR" dirty="0"/>
              <a:t>Now, the nose feature would be 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58BDC-2B7B-415C-97A7-549516478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150" y="3269974"/>
            <a:ext cx="5131699" cy="332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2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DCE5-89B6-4924-8AAC-22B58894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led to the positive feature?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6FB6-5D17-46AA-875A-1A9DA4ABF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If a feature is positive, that means the pooling operation must have found some positive numbers in the final image (after going through several layers of convolutions).</a:t>
            </a:r>
          </a:p>
          <a:p>
            <a:r>
              <a:rPr lang="pt-BR" dirty="0"/>
              <a:t>i.e. That feature must have been found “somewhere”.</a:t>
            </a:r>
          </a:p>
          <a:p>
            <a:r>
              <a:rPr lang="pt-BR" dirty="0"/>
              <a:t>If we simply looked at the image before pooling, then we would know where!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ED67E-2852-4B56-B80F-06D711E97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436" y="4169397"/>
            <a:ext cx="3029364" cy="2585209"/>
          </a:xfrm>
          <a:prstGeom prst="rect">
            <a:avLst/>
          </a:prstGeom>
        </p:spPr>
      </p:pic>
      <p:pic>
        <p:nvPicPr>
          <p:cNvPr id="4098" name="Picture 2" descr="global average pooling">
            <a:extLst>
              <a:ext uri="{FF2B5EF4-FFF2-40B4-BE49-F238E27FC236}">
                <a16:creationId xmlns:a16="http://schemas.microsoft.com/office/drawing/2014/main" id="{629FFDA8-8718-4ECC-90A0-F3BB2A9D4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534" y="4344289"/>
            <a:ext cx="3850931" cy="22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70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67E1-45B7-407C-AB49-B6B15F3C1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C9DD-D51B-4FF0-9F9E-CE8D5E69D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If a weight is &gt; 0, then the corresponding feature is positively correlated with this class.</a:t>
            </a:r>
          </a:p>
          <a:p>
            <a:r>
              <a:rPr lang="pt-BR" dirty="0"/>
              <a:t>If it is 0, it has no effect.</a:t>
            </a:r>
          </a:p>
          <a:p>
            <a:r>
              <a:rPr lang="pt-BR" dirty="0"/>
              <a:t>If it is &lt; 0, the feature makes the image less likely to belong to this class.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26376-E7B6-40EE-9C5A-7EBF0CBC0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974" y="4319588"/>
            <a:ext cx="3654051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0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780A-D5AB-4A6D-A172-22EEFBCE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 Activation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5949-E375-42F3-980A-3D729B0A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Combine these intuitions</a:t>
            </a:r>
          </a:p>
          <a:p>
            <a:r>
              <a:rPr lang="pt-BR" dirty="0"/>
              <a:t>Las few layers of ResNet:</a:t>
            </a:r>
          </a:p>
          <a:p>
            <a:pPr lvl="1"/>
            <a:r>
              <a:rPr lang="pt-BR" dirty="0"/>
              <a:t>2048 7x7 images before final pooling</a:t>
            </a:r>
          </a:p>
          <a:p>
            <a:pPr lvl="1"/>
            <a:r>
              <a:rPr lang="pt-BR" dirty="0"/>
              <a:t>2048 x 1000 dense weights (2048 weights for 1000 classes)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1A831-8814-4C95-9B6A-4A325349B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6127"/>
            <a:ext cx="10515600" cy="221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3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4837-7FA3-400D-AA44-0F6A7570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 Activation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1A4E-DFF5-4620-AF2E-508F3B1B0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We only consider 1 class at a time (usually the predict class).</a:t>
            </a:r>
          </a:p>
          <a:p>
            <a:r>
              <a:rPr lang="pt-BR" dirty="0"/>
              <a:t>E.g. w = W[:, human_face_index] # size 2048.</a:t>
            </a:r>
          </a:p>
          <a:p>
            <a:r>
              <a:rPr lang="pt-BR" dirty="0"/>
              <a:t>F = 2048 7x7 images.</a:t>
            </a:r>
          </a:p>
          <a:p>
            <a:r>
              <a:rPr lang="pt-BR" dirty="0"/>
              <a:t>Class Activation Map = F[0]*w[0] + F[1]w[1] + ... F[2047]w[2047].</a:t>
            </a:r>
          </a:p>
          <a:p>
            <a:r>
              <a:rPr lang="pt-BR" dirty="0"/>
              <a:t>Result is a 7x7 heat map.</a:t>
            </a:r>
          </a:p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0F6DE5A-D3DB-44D4-B0DE-DFF2A423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443" y="3750829"/>
            <a:ext cx="6294783" cy="295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3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B757-2E65-4E9A-97C8-D6B333A2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Final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7C9F-CCAC-49DF-AD00-750FD78FC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Rescale the 7x7 image to the original image’s size (224 x 244 for ResNet), and plot the 2 images over each other.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3DA95-9A65-4BEE-9CAA-3562BDEB3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14" y="2946745"/>
            <a:ext cx="4306957" cy="3230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749864-DE37-413B-9266-C177845C0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071" y="2946745"/>
            <a:ext cx="3230218" cy="3230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E08045-491D-4510-91DB-6043B1A3C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289" y="2946745"/>
            <a:ext cx="3230218" cy="323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9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3B03-BB2B-460E-85F4-E7540243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EC510C0-5144-4885-ADEB-EE93A805F6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5" y="1825625"/>
            <a:ext cx="96265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58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BA2E-760C-466E-959C-FC4BBBB5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Chest X-Rays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03950-4569-4408-94F7-DEA417CD0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564215"/>
            <a:ext cx="2786269" cy="27862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1CD05-4D2C-45AF-8580-32FD12812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530" y="3564215"/>
            <a:ext cx="2786269" cy="2786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2A160F-2316-417E-912D-DFC103488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603836"/>
            <a:ext cx="2786269" cy="278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434326-9D15-4BBD-ABFF-21177EFE9E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531" y="603837"/>
            <a:ext cx="2786269" cy="2786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7BA6F4-987F-4C87-9583-B13837E76853}"/>
              </a:ext>
            </a:extLst>
          </p:cNvPr>
          <p:cNvSpPr txBox="1"/>
          <p:nvPr/>
        </p:nvSpPr>
        <p:spPr>
          <a:xfrm>
            <a:off x="1020416" y="1921565"/>
            <a:ext cx="4475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examples using as images of VinBigData and the Inception architecture.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68508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2092-7C74-40CD-8AD1-182849E9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 CAM vs. LIME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8BB8E38-1203-4349-9F33-3E96786A4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50" y="4044536"/>
            <a:ext cx="2448339" cy="2448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4D391-8D67-420A-BB35-BB13D87E5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19" y="4044536"/>
            <a:ext cx="2448339" cy="2448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E14CB0-078F-4813-88B0-C2E523367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49" y="1528728"/>
            <a:ext cx="2448339" cy="2448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F29A-F271-4DC9-B708-66FC07D145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18" y="1528728"/>
            <a:ext cx="2448339" cy="2448339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B7B661D3-C54D-4778-893B-1C1AEED72B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62" r="52989"/>
          <a:stretch/>
        </p:blipFill>
        <p:spPr bwMode="auto">
          <a:xfrm>
            <a:off x="6202020" y="3963125"/>
            <a:ext cx="2897170" cy="269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9671A391-B96C-42D5-B856-323226567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74" r="52063"/>
          <a:stretch/>
        </p:blipFill>
        <p:spPr bwMode="auto">
          <a:xfrm>
            <a:off x="9099191" y="3963125"/>
            <a:ext cx="2764780" cy="269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A8552B99-0D72-4BE3-8501-62A43C64BA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31" r="52440"/>
          <a:stretch/>
        </p:blipFill>
        <p:spPr bwMode="auto">
          <a:xfrm>
            <a:off x="6202020" y="1233469"/>
            <a:ext cx="2897170" cy="269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3FD47B47-3885-4B33-BF70-D7C2DD969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54" r="53534"/>
          <a:stretch/>
        </p:blipFill>
        <p:spPr bwMode="auto">
          <a:xfrm>
            <a:off x="9099190" y="1233469"/>
            <a:ext cx="2750195" cy="269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104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9264-03CC-4E42-8581-C6903EDA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8AE1-6016-4F29-8F57-1CD4C19C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https://github.com/Alyssonmach/grad-cam-implementation</a:t>
            </a:r>
            <a:endParaRPr lang="pt-BR" dirty="0"/>
          </a:p>
          <a:p>
            <a:r>
              <a:rPr lang="pt-BR" dirty="0">
                <a:hlinkClick r:id="rId3"/>
              </a:rPr>
              <a:t>https://github.com/keras-team/keras-io/blob/master/examples/vision/grad_cam.py</a:t>
            </a:r>
            <a:endParaRPr lang="pt-BR" dirty="0"/>
          </a:p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019FF-5F13-4BFE-B9BF-A1B17666F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469" y="3283730"/>
            <a:ext cx="6467061" cy="320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8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498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Deep Learning: Class Activation Maps Theory</vt:lpstr>
      <vt:lpstr>Class Activation Maps</vt:lpstr>
      <vt:lpstr>Class Activation Maps</vt:lpstr>
      <vt:lpstr>Class Activation Maps</vt:lpstr>
      <vt:lpstr>Features</vt:lpstr>
      <vt:lpstr>What led to the positive feature? </vt:lpstr>
      <vt:lpstr>Logistic Regression</vt:lpstr>
      <vt:lpstr>Class Activation Map</vt:lpstr>
      <vt:lpstr>Class Activation Map</vt:lpstr>
      <vt:lpstr>Final Step</vt:lpstr>
      <vt:lpstr>Conclusion</vt:lpstr>
      <vt:lpstr>Chest X-Rays</vt:lpstr>
      <vt:lpstr>Grad CAM vs. LIME</vt:lpstr>
      <vt:lpstr>GitHub Repository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Learning: Class Activation Maps Theory</dc:title>
  <dc:creator>Alysson Machado</dc:creator>
  <cp:lastModifiedBy>Alysson Machado</cp:lastModifiedBy>
  <cp:revision>12</cp:revision>
  <dcterms:created xsi:type="dcterms:W3CDTF">2021-03-23T13:16:13Z</dcterms:created>
  <dcterms:modified xsi:type="dcterms:W3CDTF">2021-03-23T15:38:26Z</dcterms:modified>
</cp:coreProperties>
</file>